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BioShield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01752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Can AI Spot Fake Biomedical Research?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49039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5F5F0"/>
                </a:solidFill>
                <a:latin typeface="Calibri"/>
              </a:rPr>
              <a:t>An adversarial-training approach to detecting AI-generated medical abstracts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4864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5F5F0"/>
                </a:solidFill>
                <a:latin typeface="Calibri"/>
              </a:rPr>
              <a:t>Venkata Rayudu Alapati   ·   ID: AP25122040029   ·   M.Tech AI/ML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94360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06C75"/>
                </a:solidFill>
                <a:latin typeface="Calibri"/>
              </a:rPr>
              <a:t>github.com/Rayudualapati-25/BioShield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Quick quiz: one of these is AI-generated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Can you tell which?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486400" cy="4389120"/>
          </a:xfrm>
          <a:prstGeom prst="rect">
            <a:avLst/>
          </a:prstGeom>
          <a:solidFill>
            <a:srgbClr val="F5F5F0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Abstract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Background: CRISPR-Cas9 gene editing has shown promise in treating sickle cell disease. We investigated the long-term safety of autologous CD34+ cells modified with BCL11A enhancer deletion in 35 patients over 24 months.
Methods: Peripheral blood was collected at 6-month intervals. Fetal hemoglobin expression, vaso-occlusive crisis frequency, and off-target mutations were primary endpoints.
Results: Mean HbF increased from 4.2% to 38.9% (p&lt;0.001). Vaso-occlusive crises decreased by 92%. No clinically significant off-target edits were detected via whole-genome sequencing.
Conclusion: Gene-edited autologous transplantation appears durable and safe at 24 months.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554480"/>
            <a:ext cx="5486400" cy="4389120"/>
          </a:xfrm>
          <a:prstGeom prst="rect">
            <a:avLst/>
          </a:prstGeom>
          <a:solidFill>
            <a:srgbClr val="F5F5F0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Abstract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Background: Chronic obstructive pulmonary disease (COPD) exacerbations are a leading cause of hospitalization. We evaluated a novel inhaled bronchodilator, ZX-479, in a randomized double-blind trial.
Methods: 420 patients with moderate-to-severe COPD were randomized 1:1 to ZX-479 (200mcg BID) or placebo for 52 weeks. Primary endpoint was time to first moderate or severe exacerbation.
Results: ZX-479 significantly prolonged time to first exacerbation (HR 0.68, 95% CI 0.54-0.86, p=0.001). FEV1 improvement was sustained at week 52 (+142 mL vs placebo, p&lt;0.001).
Conclusion: ZX-479 represents a promising therapeutic option with a favorable safety profile.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06C75"/>
                </a:solidFill>
                <a:latin typeface="Calibri"/>
              </a:rPr>
              <a:t>Both look convincing. Our detector says one is fake with 98% confidence.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AI-generated medical text is a real public-health threat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938528"/>
            <a:ext cx="109728" cy="109728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Calibri"/>
              </a:rPr>
              <a:t>GPT-4 and Claude can write publication-quality fake abstracts in seconds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350008"/>
            <a:ext cx="109728" cy="109728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Calibri"/>
              </a:rPr>
              <a:t>Fake research pollutes scientific databases (PubMed, bioRxiv, CORD-19)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761488"/>
            <a:ext cx="109728" cy="109728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Calibri"/>
              </a:rPr>
              <a:t>Health platforms surface AI-generated "medical advice" to real patients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172968"/>
            <a:ext cx="109728" cy="109728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Calibri"/>
              </a:rPr>
              <a:t>Peer reviewers don't have time to fact-check every submission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584448"/>
            <a:ext cx="109728" cy="109728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7472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Calibri"/>
              </a:rPr>
              <a:t>Recent case: 30+ suspected AI-generated papers retracted from neurology journals in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120640"/>
            <a:ext cx="10698480" cy="1188720"/>
          </a:xfrm>
          <a:prstGeom prst="rect">
            <a:avLst/>
          </a:prstGeom>
          <a:solidFill>
            <a:srgbClr val="F5F5F0"/>
          </a:solidFill>
          <a:ln>
            <a:solidFill>
              <a:srgbClr val="E06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120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We need detectors that don't just catch today's generators 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Calibri"/>
              </a:rPr>
              <a:t>they must adapt as generators get smarter. That's the problem BioShield solves.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big idea: adversarial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Three AIs talking to each other, getting better every 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3474720" cy="2194560"/>
          </a:xfrm>
          <a:prstGeom prst="rect">
            <a:avLst/>
          </a:prstGeom>
          <a:solidFill>
            <a:srgbClr val="F5F5F0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Calibri"/>
              </a:rPr>
              <a:t>🎭  GENERATOR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BioMistral-7B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Writes convincing fake
medical abstracts.
The "adversary."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011680"/>
            <a:ext cx="3474720" cy="2194560"/>
          </a:xfrm>
          <a:prstGeom prst="rect">
            <a:avLst/>
          </a:prstGeom>
          <a:solidFill>
            <a:srgbClr val="F5F5F0"/>
          </a:solidFill>
          <a:ln>
            <a:solidFill>
              <a:srgbClr val="E06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06C75"/>
                </a:solidFill>
                <a:latin typeface="Calibri"/>
              </a:rPr>
              <a:t>🛡️  DETECTOR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BiomedBERT-Large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30175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Classifies: real or fake?
The defender — the
thing we actually ship.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82712" y="2011680"/>
            <a:ext cx="3474720" cy="2194560"/>
          </a:xfrm>
          <a:prstGeom prst="rect">
            <a:avLst/>
          </a:prstGeom>
          <a:solidFill>
            <a:srgbClr val="F5F5F0"/>
          </a:solidFill>
          <a:ln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86AB"/>
                </a:solidFill>
                <a:latin typeface="Calibri"/>
              </a:rPr>
              <a:t>🎓 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Qwen2.5-7B-Instruct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30175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Rewrites fakes to be
HARDER to detect.
Forces the detector
to get smarter.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Calibri"/>
              </a:rPr>
              <a:t>The loop: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generate fakes  →  detector flags them  →  agent rewrites the tricky ones  →  detector retrains  →  repeat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06C75"/>
                </a:solidFill>
                <a:latin typeface="Calibri"/>
              </a:rPr>
              <a:t>Each round, the detector sees harder examples and gets better.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Exactly how humans learn — by seeing what they missed.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Production-grade open models, all running on one Mac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645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645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459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Why this 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1152144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078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70078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70078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700784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Why this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03120"/>
            <a:ext cx="11521440" cy="54864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402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Generator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BioMistral/BioMistral-7B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240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7 B params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24028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Continued pre-training on PubMed Central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788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Detector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2788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microsoft/BiomedNLP-BiomedBERT-large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788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340 M params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7889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Pre-trained on 14 M biomedical abstracts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00400"/>
            <a:ext cx="11521440" cy="54864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3375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Qwen/Qwen2.5-7B-Instruct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337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7 B params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33756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Strong instruction-following, LoRA-compatible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862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Transfer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3886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meta-llama/Llama-3.2-3B-Instruct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3886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3 B params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8862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Cross-family attack eval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97680"/>
            <a:ext cx="11521440" cy="54864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4348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SeqGAN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4434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custom LSTM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4434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~5 M params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4348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Classical adversarial baseline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Everything runs on M3 Max (64 GB unified memory, Apple Silicon MPS, bfloat16). No cloud, no GPU cluster — reproducible on a laptop.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Where the data came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500 + 500 = 1,000 starting samples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solidFill>
            <a:srgbClr val="F5F5F0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Calibri"/>
              </a:rPr>
              <a:t>📄 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500 human-written PubMed abstracts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Streamed live from HuggingFace
(ccdv/pubmed-summarization)
Filter: ≥ 40 words, clinical content
Topics: cardiology, oncology, neurology,
infectious disease, genetics...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3912" y="1828800"/>
            <a:ext cx="5303520" cy="2286000"/>
          </a:xfrm>
          <a:prstGeom prst="rect">
            <a:avLst/>
          </a:prstGeom>
          <a:solidFill>
            <a:srgbClr val="F5F5F0"/>
          </a:solidFill>
          <a:ln>
            <a:solidFill>
              <a:srgbClr val="E06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1965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06C75"/>
                </a:solidFill>
                <a:latin typeface="Calibri"/>
              </a:rPr>
              <a:t>🤖  FAKE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2377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500 BioMistral-7B zero-shot fakes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83464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Prompted with: "Write a convincing
but fictitious biomedical abstract
about {topic}"
Structured Background / Methods /
Results / Conclusion format
Temperature 0.9 for variety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Calibri"/>
              </a:rPr>
              <a:t>Stratified 80 / 10 / 10 split: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8778240" cy="82296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846320"/>
            <a:ext cx="7022592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54112" y="4846320"/>
            <a:ext cx="87782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31936" y="4846320"/>
            <a:ext cx="877824" cy="822960"/>
          </a:xfrm>
          <a:prstGeom prst="rect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074920"/>
            <a:ext cx="7022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TRAIN  800 rows  (400 real / 400 fake)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54112" y="5074920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VAL  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936" y="5074920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TEST  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By the end of the run, we had generated 3,984 total samples across all conditions.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4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An ablation study — change one thing at a time, see what 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37360"/>
            <a:ext cx="114300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470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Generator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84708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Agent (rewriter)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84708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Detector retrains?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84708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What we're testing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82296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77440"/>
            <a:ext cx="731520" cy="5486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414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49631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BioMistral (zero-shot)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4963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4963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49631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Baseline strength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00400"/>
            <a:ext cx="731520" cy="548640"/>
          </a:xfrm>
          <a:prstGeom prst="rect">
            <a:avLst/>
          </a:prstGeom>
          <a:solidFill>
            <a:srgbClr val="598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6440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192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SeqGAN (small neural net)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3192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3192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Yes, every round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31927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Does adversarial training help?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886200"/>
            <a:ext cx="11430000" cy="82296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023360"/>
            <a:ext cx="731520" cy="5486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0873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14223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BioMistral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1422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Qwen2.5 (zero-shot rewrite)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1422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41422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Does a rewriter alone help?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846320"/>
            <a:ext cx="731520" cy="548640"/>
          </a:xfrm>
          <a:prstGeom prst="rect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91032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96519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SeqGAN + BioMistral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96519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Qwen2.5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496519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Yes, every round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496519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Does combining all 3 help?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Each condition runs 3 rounds × 250 new fakes per round = 750 new samples per condition.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Result 1: The baseline detector is already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Condition A — one-shot training, no adversarial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0" b="1">
                <a:solidFill>
                  <a:srgbClr val="1F3A5F"/>
                </a:solidFill>
                <a:latin typeface="Calibri"/>
              </a:rPr>
              <a:t>0.989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555555"/>
                </a:solidFill>
                <a:latin typeface="Calibri"/>
              </a:rPr>
              <a:t>Test AUC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2103120"/>
            <a:ext cx="4846320" cy="3474720"/>
          </a:xfrm>
          <a:prstGeom prst="rect">
            <a:avLst/>
          </a:prstGeom>
          <a:solidFill>
            <a:srgbClr val="F5F5F0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240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Calibri"/>
              </a:rPr>
              <a:t>Supporting metrics (n=100 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F1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2743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0.938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246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94%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7490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Best Val 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7490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0.999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251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Training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4251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286 seconds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95% CI (AUC)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4754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± 5 percentage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06C75"/>
                </a:solidFill>
                <a:latin typeface="Calibri"/>
              </a:rPr>
              <a:t>In plain English: the detector catches ~94 out of 100 fake abstracts on its first try.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Result 2: Adversarial training actually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Condition B — evasion drops 27% over 3 rounds (THE paper finding)</a:t>
            </a:r>
          </a:p>
        </p:txBody>
      </p:sp>
      <p:pic>
        <p:nvPicPr>
          <p:cNvPr id="5" name="Picture 4" descr="evasion_rate_vs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685800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1737360"/>
            <a:ext cx="4206240" cy="4572000"/>
          </a:xfrm>
          <a:prstGeom prst="rect">
            <a:avLst/>
          </a:prstGeom>
          <a:solidFill>
            <a:srgbClr val="F5F5F0"/>
          </a:solidFill>
          <a:ln>
            <a:solidFill>
              <a:srgbClr val="E06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Calibri"/>
              </a:rPr>
              <a:t>Evasion rate per 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377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3774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Calibri"/>
              </a:rPr>
              <a:t>0.74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8346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74% of fakes slip 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Round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32004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Calibri"/>
              </a:rPr>
              <a:t>0.64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Detector has learned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Round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40233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Calibri"/>
              </a:rPr>
              <a:t>0.54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48056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Detector has learned more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52120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06C75"/>
                </a:solidFill>
                <a:latin typeface="Calibri"/>
              </a:rPr>
              <a:t>−27% relative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56692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(and outside the ±5% noise band)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Result 3: An honest surprise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Conditions C and D are byte-identical — and we think we know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303520" cy="2926080"/>
          </a:xfrm>
          <a:prstGeom prst="rect">
            <a:avLst/>
          </a:prstGeom>
          <a:solidFill>
            <a:srgbClr val="F5F5F0"/>
          </a:solidFill>
          <a:ln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86AB"/>
                </a:solidFill>
                <a:latin typeface="Calibri"/>
              </a:rPr>
              <a:t>Condition C (agent only, no retrain)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AUC 0.982  ·  F1 0.947  ·  Evasion 0.00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BioMistral fakes get written by the generator,
Qwen rewrites the 25% hardest ones,
detector evaluates — same weights as Condition 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3912" y="1828800"/>
            <a:ext cx="5303520" cy="2926080"/>
          </a:xfrm>
          <a:prstGeom prst="rect">
            <a:avLst/>
          </a:prstGeom>
          <a:solidFill>
            <a:srgbClr val="F5F5F0"/>
          </a:solidFill>
          <a:ln>
            <a:solidFill>
              <a:srgbClr val="E06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6C75"/>
                </a:solidFill>
                <a:latin typeface="Calibri"/>
              </a:rPr>
              <a:t>Condition D (full pipeline, WITH retrain)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2423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AUC 0.982  ·  F1 0.947  ·  Evasion 0.00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9260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Everything C does, plus detector retraining.
Expected to beat C. Instead:
IDENTICAL numbers to 15 decimal places.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937760"/>
            <a:ext cx="10698480" cy="1463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Why? BioMistral zero-shot fakes are too easy.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486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Validation AUC already hits 0.999 in Condition A — there's no room to improve.
Both C and D pick Condition A's checkpoint as "best" and stay there.
Fix for the paper run: LoRA-fine-tune BioMistral to actively evade the detector.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Result 4: Out of biomedical = out of luck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RAID cross-domain benchmark — this is where the detector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0" b="1">
                <a:solidFill>
                  <a:srgbClr val="E06C75"/>
                </a:solidFill>
                <a:latin typeface="Calibri"/>
              </a:rPr>
              <a:t>96%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555555"/>
                </a:solidFill>
                <a:latin typeface="Calibri"/>
              </a:rPr>
              <a:t>RAID evasion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(when the detector sees AI text from other domains)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828800"/>
            <a:ext cx="5760720" cy="4572000"/>
          </a:xfrm>
          <a:prstGeom prst="rect">
            <a:avLst/>
          </a:prstGeom>
          <a:solidFill>
            <a:srgbClr val="F5F5F0"/>
          </a:solidFill>
          <a:ln>
            <a:solidFill>
              <a:srgbClr val="E06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965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Calibri"/>
              </a:rPr>
              <a:t>What went wrong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46888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RAID = 200 real + AI-generated samples from ChatGPT, GPT-4,
Claude, Llama, etc. — across many non-biomedical domains.
Our detector was trained only on PubMed + BioMistral.
It learned the style of one generator family.
When shown GPT-4 output from Wikipedia articles, it labels
them "human" 96% of the 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6C75"/>
                </a:solidFill>
                <a:latin typeface="Calibri"/>
              </a:rPr>
              <a:t>This isn't a weakness in the paper — it's a positioning statement.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BioShield is a biomedical specialist, not a universal AI detector.
Cross-domain training becomes future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Engineering: two bugs we caught ourselves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What separates a course project from research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247120" cy="2103120"/>
          </a:xfrm>
          <a:prstGeom prst="rect">
            <a:avLst/>
          </a:prstGeom>
          <a:solidFill>
            <a:srgbClr val="F5F5F0"/>
          </a:solidFill>
          <a:ln>
            <a:solidFill>
              <a:srgbClr val="E06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6C75"/>
                </a:solidFill>
                <a:latin typeface="Calibri"/>
              </a:rPr>
              <a:t>🐛  BUG 1 — Seed was set once, not per-round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Before: set_seed(42) called once at process start → SeqGAN + Qwen produced
             byte-identical outputs every round. Per-round metrics identical. No adversarial signal.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Calibri"/>
              </a:rPr>
              <a:t>After:   set_seed(42 + round_idx) inside the loop → rounds diverge → evasion curve emerges
             0.74 → 0.64 → 0.54  (this is literally why Slide 9 exists).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11247120" cy="2103120"/>
          </a:xfrm>
          <a:prstGeom prst="rect">
            <a:avLst/>
          </a:prstGeom>
          <a:solidFill>
            <a:srgbClr val="F5F5F0"/>
          </a:solidFill>
          <a:ln>
            <a:solidFill>
              <a:srgbClr val="E06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6C75"/>
                </a:solidFill>
                <a:latin typeface="Calibri"/>
              </a:rPr>
              <a:t>🐛  BUG 2 — hard_fraction=0.25 was in config but ignored by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Before: code rewrote ALL 250 fakes with Qwen, not just the 25% hardest.
             Paper claim ("agent focuses on hard examples") didn't match the code.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Calibri"/>
              </a:rPr>
              <a:t>After:   score all fakes → sort by detector confidence → rewrite only top 25% (~62 fakes)
             → merge with untouched easy ones. Claim now matches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Both fixes verified in the 500-scale run. If we'd shipped with these bugs, the paper would have lied.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Running it: what it took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All four conditions on one M3 Max laptop, under 7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Calibri"/>
              </a:rPr>
              <a:t>Pipeline wall-clock (17:42 → 00:05)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4114800" cy="36576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371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Data prep (500 fakes)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2402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F3A5F"/>
                </a:solidFill>
                <a:latin typeface="Calibri"/>
              </a:rPr>
              <a:t>1 h 23 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4114800" cy="36576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137160" cy="365760"/>
          </a:xfrm>
          <a:prstGeom prst="rect">
            <a:avLst/>
          </a:prstGeom>
          <a:solidFill>
            <a:srgbClr val="598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Condition A (baseline)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974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598B2C"/>
                </a:solidFill>
                <a:latin typeface="Calibri"/>
              </a:rPr>
              <a:t>6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60"/>
            <a:ext cx="4114800" cy="36576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08960"/>
            <a:ext cx="137160" cy="3657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54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Condition B (SeqGAN)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546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2E86AB"/>
                </a:solidFill>
                <a:latin typeface="Calibri"/>
              </a:rPr>
              <a:t>27 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566160"/>
            <a:ext cx="4114800" cy="36576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137160" cy="365760"/>
          </a:xfrm>
          <a:prstGeom prst="rect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611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Condition C (agent)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6118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E06C75"/>
                </a:solidFill>
                <a:latin typeface="Calibri"/>
              </a:rPr>
              <a:t>1 h 59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3360"/>
            <a:ext cx="4114800" cy="36576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23360"/>
            <a:ext cx="1371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Condition D (full)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069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F3A5F"/>
                </a:solidFill>
                <a:latin typeface="Calibri"/>
              </a:rPr>
              <a:t>2 h 27 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480560"/>
            <a:ext cx="4114800" cy="36576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480560"/>
            <a:ext cx="137160" cy="365760"/>
          </a:xfrm>
          <a:prstGeom prst="rect">
            <a:avLst/>
          </a:prstGeom>
          <a:solidFill>
            <a:srgbClr val="598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5262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Plots + RAID + M4 bench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45262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598B2C"/>
                </a:solidFill>
                <a:latin typeface="Calibri"/>
              </a:rPr>
              <a:t>0.5 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1737360"/>
            <a:ext cx="5303520" cy="4572000"/>
          </a:xfrm>
          <a:prstGeom prst="rect">
            <a:avLst/>
          </a:prstGeom>
          <a:solidFill>
            <a:srgbClr val="F5F5F0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Calibri"/>
              </a:rPr>
              <a:t>Engineering details</a:t>
            </a:r>
          </a:p>
        </p:txBody>
      </p:sp>
      <p:sp>
        <p:nvSpPr>
          <p:cNvPr id="32" name="Oval 31"/>
          <p:cNvSpPr/>
          <p:nvPr/>
        </p:nvSpPr>
        <p:spPr>
          <a:xfrm>
            <a:off x="6675120" y="2487168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2377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Total run: 6 h 23 m end-to-end</a:t>
            </a:r>
          </a:p>
        </p:txBody>
      </p:sp>
      <p:sp>
        <p:nvSpPr>
          <p:cNvPr id="34" name="Oval 33"/>
          <p:cNvSpPr/>
          <p:nvPr/>
        </p:nvSpPr>
        <p:spPr>
          <a:xfrm>
            <a:off x="6675120" y="2990088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28803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Samples produced: 3,984</a:t>
            </a:r>
          </a:p>
        </p:txBody>
      </p:sp>
      <p:sp>
        <p:nvSpPr>
          <p:cNvPr id="36" name="Oval 35"/>
          <p:cNvSpPr/>
          <p:nvPr/>
        </p:nvSpPr>
        <p:spPr>
          <a:xfrm>
            <a:off x="6675120" y="3493008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3383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Peak memory: 52 GB / 64 GB</a:t>
            </a:r>
          </a:p>
        </p:txBody>
      </p:sp>
      <p:sp>
        <p:nvSpPr>
          <p:cNvPr id="38" name="Oval 37"/>
          <p:cNvSpPr/>
          <p:nvPr/>
        </p:nvSpPr>
        <p:spPr>
          <a:xfrm>
            <a:off x="6675120" y="3995928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3886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Backend: Apple Silicon MPS, bfloat16</a:t>
            </a:r>
          </a:p>
        </p:txBody>
      </p:sp>
      <p:sp>
        <p:nvSpPr>
          <p:cNvPr id="40" name="Oval 39"/>
          <p:cNvSpPr/>
          <p:nvPr/>
        </p:nvSpPr>
        <p:spPr>
          <a:xfrm>
            <a:off x="6675120" y="4498848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Mac awake via `caffeinate -dims -w $$`</a:t>
            </a:r>
          </a:p>
        </p:txBody>
      </p:sp>
      <p:sp>
        <p:nvSpPr>
          <p:cNvPr id="42" name="Oval 41"/>
          <p:cNvSpPr/>
          <p:nvPr/>
        </p:nvSpPr>
        <p:spPr>
          <a:xfrm>
            <a:off x="6675120" y="5001768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4892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Progress logged to /tmp/bioshield_progress.log</a:t>
            </a:r>
          </a:p>
        </p:txBody>
      </p:sp>
      <p:sp>
        <p:nvSpPr>
          <p:cNvPr id="44" name="Oval 43"/>
          <p:cNvSpPr/>
          <p:nvPr/>
        </p:nvSpPr>
        <p:spPr>
          <a:xfrm>
            <a:off x="6675120" y="5504688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0" y="53949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Mobile notifications every milestone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Three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What to remember when you walk out of this 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11247120" cy="146304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228600" cy="1463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92024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Adversarial training 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395728"/>
            <a:ext cx="9509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Condition B shows evasion rate dropping 0.74 → 0.54 across 3 rounds.
The detector genuinely learns from the adversarial loop. This is the
headline finding of the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37560"/>
            <a:ext cx="11247120" cy="146304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337560"/>
            <a:ext cx="228600" cy="1463040"/>
          </a:xfrm>
          <a:prstGeom prst="rect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20440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06C75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52044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Your baseline choice matters.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995928"/>
            <a:ext cx="9509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Zero-shot LLM fakes were too easy — Conditions C and D gave identical numbers
because the detector had nothing to improve against. Future runs need a
LoRA-hardened generator to show the full-pipeline story.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937760"/>
            <a:ext cx="228600" cy="14630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2E86AB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512064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Robustness is domain-specific.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596128"/>
            <a:ext cx="9509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RAID evasion 0.96 — our detector doesn't generalize beyond biomedical.
We position BioShield as a specialist, not a universal AI-text detector.
Cross-domain training is the obvious future-work section.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From project to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What turns "it works on my machine" into a publishable result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1124712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28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This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Paper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Paper full (PRD)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1247120" cy="45720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Data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2860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500 real + 500 fake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2,000 + 2,000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10,000 + 10,000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Rounds × pool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7432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3 × 250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743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3 ×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5 × 1,000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108960"/>
            <a:ext cx="11247120" cy="45720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Samples produced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200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~4 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3200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~10 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~38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57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Test n / CI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657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n=100 · ±5%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657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n=200 · ±3.5%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3657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n=1,000 · ±1.5%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114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Wall-clock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6 h 23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~24 h (a weekend)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4114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~80 h (~3.3 days)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Calibri"/>
              </a:rPr>
              <a:t>Pre-work before the paper run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" y="5212080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1206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Batch BioMistral generation (batch=4) → cuts 80 h run to ~50 h</a:t>
            </a:r>
          </a:p>
        </p:txBody>
      </p:sp>
      <p:sp>
        <p:nvSpPr>
          <p:cNvPr id="36" name="Oval 35"/>
          <p:cNvSpPr/>
          <p:nvPr/>
        </p:nvSpPr>
        <p:spPr>
          <a:xfrm>
            <a:off x="640080" y="5504688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4132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LoRA-fine-tune BioMistral to actively evade the detector</a:t>
            </a:r>
          </a:p>
        </p:txBody>
      </p:sp>
      <p:sp>
        <p:nvSpPr>
          <p:cNvPr id="38" name="Oval 37"/>
          <p:cNvSpPr/>
          <p:nvPr/>
        </p:nvSpPr>
        <p:spPr>
          <a:xfrm>
            <a:off x="640080" y="5797295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705855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Populate transfer_test.csv with 500 Llama-3.2-3B fakes</a:t>
            </a:r>
          </a:p>
        </p:txBody>
      </p:sp>
      <p:sp>
        <p:nvSpPr>
          <p:cNvPr id="40" name="Oval 39"/>
          <p:cNvSpPr/>
          <p:nvPr/>
        </p:nvSpPr>
        <p:spPr>
          <a:xfrm>
            <a:off x="640080" y="6089904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99846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Replace M4 benchmark (Chardonneret/M4 was removed from HF Hub)</a:t>
            </a:r>
          </a:p>
        </p:txBody>
      </p:sp>
      <p:sp>
        <p:nvSpPr>
          <p:cNvPr id="42" name="Oval 41"/>
          <p:cNvSpPr/>
          <p:nvPr/>
        </p:nvSpPr>
        <p:spPr>
          <a:xfrm>
            <a:off x="640080" y="6382512"/>
            <a:ext cx="91440" cy="91440"/>
          </a:xfrm>
          <a:prstGeom prst="ellipse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629107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50-sample blinded human evaluation for reviewer credibility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BioShield   ·   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88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5F5F0"/>
                </a:solidFill>
                <a:latin typeface="Calibri"/>
              </a:rPr>
              <a:t>Thank you for sitting through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5F5F0"/>
                </a:solidFill>
                <a:latin typeface="Calibri"/>
              </a:rPr>
              <a:t>Code, data, metrics, plots — all open source: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6344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6C75"/>
                </a:solidFill>
                <a:latin typeface="Calibri"/>
              </a:rPr>
              <a:t>github.com/Rayudualapati-25/BioShield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9436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5F5F0"/>
                </a:solidFill>
                <a:latin typeface="Calibri"/>
              </a:rPr>
              <a:t>Built with ❤️ on a single M3 Max laptop   ·   6 h 23 m wall-clock   ·   zero cloud spend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35508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5F0"/>
                </a:solidFill>
                <a:latin typeface="Calibri"/>
              </a:rPr>
              <a:t>Venkata Rayudu Alapati   ·   M.Tech AI/ML   ·   AP25122040029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