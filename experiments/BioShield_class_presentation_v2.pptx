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45720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C8378"/>
                </a:solidFill>
                <a:latin typeface="Helvetica Neue"/>
              </a:rPr>
              <a:t>CLASS PRESENTATION  · 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0" i="1">
                <a:solidFill>
                  <a:srgbClr val="1A1A1A"/>
                </a:solidFill>
                <a:latin typeface="Georgia"/>
              </a:rPr>
              <a:t>BioShield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3A3A3A"/>
                </a:solidFill>
                <a:latin typeface="Georgia"/>
              </a:rPr>
              <a:t>Teaching a machine to spot fake</a:t>
            </a:r>
          </a:p>
          <a:p>
            <a:pPr algn="l">
              <a:lnSpc>
                <a:spcPct val="125000"/>
              </a:lnSpc>
            </a:pPr>
            <a:r>
              <a:rPr sz="3400" b="0" i="0">
                <a:solidFill>
                  <a:srgbClr val="3A3A3A"/>
                </a:solidFill>
                <a:latin typeface="Georgia"/>
              </a:rPr>
              <a:t>medical research — before it spreads.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03504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Venkatarayudu Alapati  ·  AP25122040029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C8378"/>
                </a:solidFill>
                <a:latin typeface="Helvetica Neue"/>
              </a:rPr>
              <a:t>M.Tech AI/ML  ·  NLP course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6172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C8378"/>
                </a:solidFill>
                <a:latin typeface="Menlo"/>
              </a:rPr>
              <a:t>github.com/Rayudualapati-25/BioShield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02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7280" y="2103120"/>
            <a:ext cx="99669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200" b="0" i="1">
                <a:solidFill>
                  <a:srgbClr val="1A1A1A"/>
                </a:solidFill>
                <a:latin typeface="Georgia"/>
              </a:rPr>
              <a:t>“One of these abstracts</a:t>
            </a:r>
          </a:p>
          <a:p>
            <a:pPr algn="ctr">
              <a:lnSpc>
                <a:spcPct val="130000"/>
              </a:lnSpc>
            </a:pPr>
            <a:r>
              <a:rPr sz="4200" b="0" i="1">
                <a:solidFill>
                  <a:srgbClr val="1A1A1A"/>
                </a:solidFill>
                <a:latin typeface="Georgia"/>
              </a:rPr>
              <a:t>was written by a person.</a:t>
            </a:r>
          </a:p>
          <a:p>
            <a:pPr algn="ctr">
              <a:lnSpc>
                <a:spcPct val="130000"/>
              </a:lnSpc>
            </a:pPr>
            <a:r>
              <a:rPr sz="4200" b="0" i="1">
                <a:solidFill>
                  <a:srgbClr val="1A1A1A"/>
                </a:solidFill>
                <a:latin typeface="Georgia"/>
              </a:rPr>
              <a:t>The other was written by a</a:t>
            </a:r>
          </a:p>
          <a:p>
            <a:pPr algn="ctr">
              <a:lnSpc>
                <a:spcPct val="130000"/>
              </a:lnSpc>
            </a:pPr>
            <a:r>
              <a:rPr sz="4200" b="0" i="1">
                <a:solidFill>
                  <a:srgbClr val="1A1A1A"/>
                </a:solidFill>
                <a:latin typeface="Georgia"/>
              </a:rPr>
              <a:t>7-billion-parameter model.”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D97757"/>
                </a:solidFill>
                <a:latin typeface="Helvetica Neue"/>
              </a:rPr>
              <a:t>You have thirty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03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1A1A1A"/>
                </a:solidFill>
                <a:latin typeface="Georgia"/>
              </a:rPr>
              <a:t>The quiz.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Which abstract was written by a human?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303520" cy="402336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D97757"/>
                </a:solidFill>
                <a:latin typeface="Georgia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6634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pheochromocytoma is a catecholamine-producing tumor. there are a very few reported cases of clinical pheochromocytoma. here, we report a 27-year-old woman para 1 live 1 with chief complaint of headache, confusion, nausea, and vomiting 2 days after cesarean section. she was anxious and had palpitation. on physical examination, fever, tachycardia, tachypnea, high blood pressure, and diaphoresis were observed…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103120"/>
            <a:ext cx="5303520" cy="402336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D97757"/>
                </a:solidFill>
                <a:latin typeface="Georgia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108960"/>
            <a:ext cx="46634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Objective: To examine the efficacy of liraglutide and semaglutide in managing obesity. Methods: We conducted a systematic review of the PubMed database with the keywords “obesity”, “liraglutide”, “semaglutide”, and “clinical trial”. The results of these trials were combined using meta-analysis. Results: The results showed that liraglutide and semaglutide were effective in managing obesity…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C8378"/>
                </a:solidFill>
                <a:latin typeface="Helvetica Neue"/>
              </a:rPr>
              <a:t>(We'll come back to this in five slides.)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04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1A1A1A"/>
                </a:solidFill>
                <a:latin typeface="Georgia"/>
              </a:rPr>
              <a:t>Why this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C8378"/>
                </a:solidFill>
                <a:latin typeface="Helvetica Neue"/>
              </a:rPr>
              <a:t>Three ways fake medical writing causes real damage.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743200"/>
            <a:ext cx="3520440" cy="0"/>
          </a:xfrm>
          <a:prstGeom prst="line">
            <a:avLst/>
          </a:prstGeom>
          <a:ln w="1905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92608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4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Misinformation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148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A plausible-looking fake abstract on vaccine safety or drug efficacy can reach millions before anyone reads the methods section.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43400" y="2743200"/>
            <a:ext cx="3520440" cy="0"/>
          </a:xfrm>
          <a:prstGeom prst="line">
            <a:avLst/>
          </a:prstGeom>
          <a:ln w="1905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43400" y="292608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29184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Database rot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1148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PubMed, CORD-19, and other corpora are ingested by downstream tools. Polluted sources mean polluted models, systematic reviews, and meta-analyses.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0" y="2743200"/>
            <a:ext cx="3520440" cy="0"/>
          </a:xfrm>
          <a:prstGeom prst="line">
            <a:avLst/>
          </a:prstGeom>
          <a:ln w="1905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38160" y="2926080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291840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Research fraud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114800"/>
            <a:ext cx="35204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Paper mills now generate synthetic manuscripts and reviews at scale. Journals need a screening layer that doesn't rely on a human's pattern-matching.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05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Three models in an adversarial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The idea: let a generator forge fakes, a detector catch them, and a coach make the fakes harder.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74720"/>
            <a:ext cx="1645920" cy="1645920"/>
          </a:xfrm>
          <a:prstGeom prst="ellipse">
            <a:avLst/>
          </a:prstGeom>
          <a:solidFill>
            <a:srgbClr val="FAF7F2"/>
          </a:solidFill>
          <a:ln w="285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069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D97757"/>
                </a:solidFill>
                <a:latin typeface="Georgia"/>
              </a:rPr>
              <a:t>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Helvetica Neue"/>
              </a:rPr>
              <a:t>BioMistral-7B</a:t>
            </a:r>
          </a:p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Helvetica Neue"/>
              </a:rPr>
              <a:t>writes convincing fakes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3474720"/>
            <a:ext cx="1645920" cy="1645920"/>
          </a:xfrm>
          <a:prstGeom prst="ellipse">
            <a:avLst/>
          </a:prstGeom>
          <a:solidFill>
            <a:srgbClr val="FAF7F2"/>
          </a:solidFill>
          <a:ln w="285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4069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1A1A1A"/>
                </a:solidFill>
                <a:latin typeface="Georgia"/>
              </a:rPr>
              <a:t>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Helvetica Neue"/>
              </a:rPr>
              <a:t>BiomedBERT-Large</a:t>
            </a:r>
          </a:p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Helvetica Neue"/>
              </a:rPr>
              <a:t>real vs fake binary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0" y="3474720"/>
            <a:ext cx="1645920" cy="1645920"/>
          </a:xfrm>
          <a:prstGeom prst="ellipse">
            <a:avLst/>
          </a:prstGeom>
          <a:solidFill>
            <a:srgbClr val="FAF7F2"/>
          </a:solidFill>
          <a:ln w="28575">
            <a:solidFill>
              <a:srgbClr val="2C5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0" y="4069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2C5E4A"/>
                </a:solidFill>
                <a:latin typeface="Georgia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525780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Helvetica Neue"/>
              </a:rPr>
              <a:t>Qwen2.5-7B</a:t>
            </a:r>
          </a:p>
          <a:p>
            <a:pPr algn="ctr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Helvetica Neue"/>
              </a:rPr>
              <a:t>rewrites near-misses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4297680.0"/>
            <a:ext cx="2240280" cy="0.0"/>
          </a:xfrm>
          <a:prstGeom prst="line">
            <a:avLst/>
          </a:prstGeom>
          <a:ln w="15875">
            <a:solidFill>
              <a:srgbClr val="8C83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0" y="4297680.0"/>
            <a:ext cx="2240280" cy="0.0"/>
          </a:xfrm>
          <a:prstGeom prst="line">
            <a:avLst/>
          </a:prstGeom>
          <a:ln w="15875">
            <a:solidFill>
              <a:srgbClr val="8C83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3A3A3A"/>
                </a:solidFill>
                <a:latin typeface="Georgia"/>
              </a:rPr>
              <a:t>Each round, the detector is retrained on harder fakes. That's the loop.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06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1A1A1A"/>
                </a:solidFill>
                <a:latin typeface="Georgia"/>
              </a:rPr>
              <a:t>The cast.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Five models. Each picked for a specific job.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46888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26060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BioMistral-7B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651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The forger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670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Medical-tuned Mistral. Zero-shot generation of fake abstracts.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3182112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080" y="331927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BiomedBERT-Large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649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The skeptic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3832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340M-param encoder pretrained on biomedical text. Binary classifier.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895344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403250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Qwen2.5-7B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0782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The coach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09651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Rewrites the fakes that almost fooled the detector. Picks sharper wording.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4608576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457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SeqGAN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79145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The scrappy challenger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8097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Small GAN. Used in Condition B to produce stylistically-different fakes.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5321808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54589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A1A1A"/>
                </a:solidFill>
                <a:latin typeface="Georgia"/>
              </a:rPr>
              <a:t>Llama-3.2-3B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50468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The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2297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Held back for cross-family transfer-attack evaluation.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03504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07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1A1A1A"/>
                </a:solidFill>
                <a:latin typeface="Georgia"/>
              </a:rPr>
              <a:t>The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943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0" b="0" i="1">
                <a:solidFill>
                  <a:srgbClr val="1A1A1A"/>
                </a:solidFill>
                <a:latin typeface="Georgia"/>
              </a:rPr>
              <a:t>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3A3A3A"/>
                </a:solidFill>
                <a:latin typeface="Georgia"/>
              </a:rPr>
              <a:t>biomedical abstracts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2860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7757"/>
                </a:solidFill>
                <a:latin typeface="Helvetica Neue"/>
              </a:rPr>
              <a:t>HOW IT BREAKS DOWN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0" y="2606040"/>
            <a:ext cx="4389120" cy="0"/>
          </a:xfrm>
          <a:prstGeom prst="line">
            <a:avLst/>
          </a:prstGeom>
          <a:ln w="9525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0" y="28346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1A1A1A"/>
                </a:solidFill>
                <a:latin typeface="Georgia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2186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real PubMed abstracts, streamed from ccdv/pubmed-summarization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6118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1A1A1A"/>
                </a:solidFill>
                <a:latin typeface="Georgia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99592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fake abstracts, generated zero-shot by BioMistral-7B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891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1A1A1A"/>
                </a:solidFill>
                <a:latin typeface="Georgia"/>
              </a:rPr>
              <a:t>80 / 10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77316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train / val / test split, stratified by label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1663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1A1A1A"/>
                </a:solidFill>
                <a:latin typeface="Georgia"/>
              </a:rPr>
              <a:t>n = 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55040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held-out test set, same distribution as training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08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Four experiments, one ablation.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Changing one variable at a time tells us which piece actually earns its place.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23160"/>
            <a:ext cx="5394960" cy="210312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914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0" i="1">
                <a:solidFill>
                  <a:srgbClr val="D97757"/>
                </a:solidFill>
                <a:latin typeface="Georgia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974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Menlo"/>
              </a:rPr>
              <a:t>static_baseline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06324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1A1A1A"/>
                </a:solidFill>
                <a:latin typeface="Georgia"/>
              </a:rPr>
              <a:t>Train once. Never retrain.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65760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Georgia"/>
              </a:rPr>
              <a:t>The reference point — how good is a detector without any adversarial pressure?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423160"/>
            <a:ext cx="5394960" cy="210312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560320"/>
            <a:ext cx="914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0" i="1">
                <a:solidFill>
                  <a:srgbClr val="D97757"/>
                </a:solidFill>
                <a:latin typeface="Georgia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26974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Menlo"/>
              </a:rPr>
              <a:t>seqgan_only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06324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1A1A1A"/>
                </a:solidFill>
                <a:latin typeface="Georgia"/>
              </a:rPr>
              <a:t>SeqGAN + retrain each round.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65760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Georgia"/>
              </a:rPr>
              <a:t>Pure adversarial dynamic. No coach, no fancy rewrites — just new fakes each round.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5394960" cy="210312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37760"/>
            <a:ext cx="914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0" i="1">
                <a:solidFill>
                  <a:srgbClr val="D97757"/>
                </a:solidFill>
                <a:latin typeface="Georgia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749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Menlo"/>
              </a:rPr>
              <a:t>agent_only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4406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1A1A1A"/>
                </a:solidFill>
                <a:latin typeface="Georgia"/>
              </a:rPr>
              <a:t>Qwen rewrites, no retrain.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03504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Georgia"/>
              </a:rPr>
              <a:t>Does a smarter attacker alone hurt a static detector? Rewrite the hard fakes and measure.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800600"/>
            <a:ext cx="5394960" cy="210312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937760"/>
            <a:ext cx="914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0" i="1">
                <a:solidFill>
                  <a:srgbClr val="D97757"/>
                </a:solidFill>
                <a:latin typeface="Georgia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0749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Menlo"/>
              </a:rPr>
              <a:t>full_pipeline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4406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1A1A1A"/>
                </a:solidFill>
                <a:latin typeface="Georgia"/>
              </a:rPr>
              <a:t>SeqGAN + Qwen + retrain.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603504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A3A"/>
                </a:solidFill>
                <a:latin typeface="Georgia"/>
              </a:rPr>
              <a:t>Everything on. The setup that should, in principle, produce the hardest detector.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09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RESULT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The baseline detector is already strong.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8229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0" b="0" i="1">
                <a:solidFill>
                  <a:srgbClr val="1A1A1A"/>
                </a:solidFill>
                <a:latin typeface="Georgia"/>
              </a:rPr>
              <a:t>0.989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A3A3A"/>
                </a:solidFill>
                <a:latin typeface="Helvetica Neue"/>
              </a:rPr>
              <a:t>Test-set AUC  ·  Condition A  ·  n =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46888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7757"/>
                </a:solidFill>
                <a:latin typeface="Helvetica Neue"/>
              </a:rPr>
              <a:t>ALSO WORTH NOTING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95360" y="2788920"/>
            <a:ext cx="3108960" cy="0"/>
          </a:xfrm>
          <a:prstGeom prst="line">
            <a:avLst/>
          </a:prstGeom>
          <a:ln w="9525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59536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C8378"/>
                </a:solidFill>
                <a:latin typeface="Helvetica Neue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9260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0.938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657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C8378"/>
                </a:solidFill>
                <a:latin typeface="Helvetica Neue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36118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0.94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3434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C8378"/>
                </a:solidFill>
                <a:latin typeface="Helvetica Neue"/>
              </a:rPr>
              <a:t>Train 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42976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800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50292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C8378"/>
                </a:solidFill>
                <a:latin typeface="Helvetica Neue"/>
              </a:rPr>
              <a:t>Epochs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498348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10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RESULT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The detector is learning.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Condition B  ·  evasion rate on the SeqGAN fake pool, round over 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0" b="0" i="1">
                <a:solidFill>
                  <a:srgbClr val="D97757"/>
                </a:solidFill>
                <a:latin typeface="Georgia"/>
              </a:rPr>
              <a:t>0.74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8C8378"/>
                </a:solidFill>
                <a:latin typeface="Helvetica Neue"/>
              </a:rPr>
              <a:t>ROUND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58768" y="3566160"/>
            <a:ext cx="228600" cy="0"/>
          </a:xfrm>
          <a:prstGeom prst="line">
            <a:avLst/>
          </a:prstGeom>
          <a:ln w="15875">
            <a:solidFill>
              <a:srgbClr val="8C83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0" y="283464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0" b="0" i="1">
                <a:solidFill>
                  <a:srgbClr val="8C8378"/>
                </a:solidFill>
                <a:latin typeface="Georgia"/>
              </a:rPr>
              <a:t>0.64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3434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8C8378"/>
                </a:solidFill>
                <a:latin typeface="Helvetica Neue"/>
              </a:rPr>
              <a:t>ROUND 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33488" y="3566160"/>
            <a:ext cx="228600" cy="0"/>
          </a:xfrm>
          <a:prstGeom prst="line">
            <a:avLst/>
          </a:prstGeom>
          <a:ln w="15875">
            <a:solidFill>
              <a:srgbClr val="8C83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0" y="2834640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600" b="0" i="1">
                <a:solidFill>
                  <a:srgbClr val="2C5E4A"/>
                </a:solidFill>
                <a:latin typeface="Georgia"/>
              </a:rPr>
              <a:t>0.54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3434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8C8378"/>
                </a:solidFill>
                <a:latin typeface="Helvetica Neue"/>
              </a:rPr>
              <a:t>ROUND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20640"/>
            <a:ext cx="11064240" cy="1188720"/>
          </a:xfrm>
          <a:prstGeom prst="rect">
            <a:avLst/>
          </a:prstGeom>
          <a:solidFill>
            <a:srgbClr val="EFC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That's a 27% relative reduction in three rounds. The detector is seeing fakes</a:t>
            </a:r>
          </a:p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it previously missed, retraining on them, and getting harder to fool. This is</a:t>
            </a:r>
          </a:p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the adversarial-training story in one graph.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11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RESULT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And here's what didn't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1">
                <a:solidFill>
                  <a:srgbClr val="3A3A3A"/>
                </a:solidFill>
                <a:latin typeface="Georgia"/>
              </a:rPr>
              <a:t>Conditions C and D produced byte-identical final metrics.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310896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Condition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246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C8378"/>
                </a:solidFill>
                <a:latin typeface="Menlo"/>
              </a:rPr>
              <a:t>agent_only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218688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enlo"/>
              </a:rPr>
              <a:t>AUC 0.982  ·  F1 0.947  ·  Evasion 0.00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74904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840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Condition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8862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C8378"/>
                </a:solidFill>
                <a:latin typeface="Menlo"/>
              </a:rPr>
              <a:t>full_pipeline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858768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Menlo"/>
              </a:rPr>
              <a:t>AUC 0.982  ·  F1 0.947  ·  Evasion 0.00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38912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4846320"/>
            <a:ext cx="11064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A3A3A"/>
                </a:solidFill>
                <a:latin typeface="Georgia"/>
              </a:rPr>
              <a:t>Both conditions picked Condition A's baseline as their best-validation checkpoint.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A3A3A"/>
                </a:solidFill>
                <a:latin typeface="Georgia"/>
              </a:rPr>
              <a:t>The cause, once you look: BioMistral's zero-shot fakes are too easy — the detector catches nearly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A3A3A"/>
                </a:solidFill>
                <a:latin typeface="Georgia"/>
              </a:rPr>
              <a:t>all of them on the first pass. With nothing slipping through, there's no gradient for the agent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A3A3A"/>
                </a:solidFill>
                <a:latin typeface="Georgia"/>
              </a:rPr>
              <a:t>or the retrain loop to improve against.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D97757"/>
                </a:solidFill>
                <a:latin typeface="Georgia"/>
              </a:rPr>
              <a:t>Lesson: adversarial setups need adversarial-quality fakes.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12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RESULT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What we can't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68580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0" b="0" i="1">
                <a:solidFill>
                  <a:srgbClr val="D97757"/>
                </a:solidFill>
                <a:latin typeface="Georgia"/>
              </a:rPr>
              <a:t>96%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1">
                <a:solidFill>
                  <a:srgbClr val="3A3A3A"/>
                </a:solidFill>
                <a:latin typeface="Georgia"/>
              </a:rPr>
              <a:t>of cross-domain fakes slipped past our detector on the RAID benchmark.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4688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7757"/>
                </a:solidFill>
                <a:latin typeface="Helvetica Neue"/>
              </a:rPr>
              <a:t>READ THIS HONESTLY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2788920"/>
            <a:ext cx="3931920" cy="0"/>
          </a:xfrm>
          <a:prstGeom prst="line">
            <a:avLst/>
          </a:prstGeom>
          <a:ln w="9525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80960" y="2926080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RAID contains general-web AI text from ChatGPT, GPT-4, Claude, Llama, and others — models our detector never trained against.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BioShield is a biomedical specialist, not a universal AI-text detector. That's a positioning statement, not a weakness.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Cross-domain generalization is its own research problem.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13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Two bugs we found in our own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Both caught during an earlier smoke run. Both verified fixed on the 500-scale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5440680" cy="338328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7757"/>
                </a:solidFill>
                <a:latin typeface="Helvetica Neu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461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The seeding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00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set_seed(42) was called once at process start — so every adversarial round produced byte-identical fakes and byte-identical rewrites.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4800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1A1A1A"/>
                </a:solidFill>
                <a:latin typeface="Menlo"/>
              </a:rPr>
              <a:t>Before:  rounds 1, 2, 3 had literally the same output.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1A1A1A"/>
                </a:solidFill>
                <a:latin typeface="Menlo"/>
              </a:rPr>
              <a:t>After:   set_seed(base + round_idx) inside the loop — rounds now vary as intended.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743200"/>
            <a:ext cx="5440680" cy="338328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97180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7757"/>
                </a:solidFill>
                <a:latin typeface="Helvetica Neu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24612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1A1A1A"/>
                </a:solidFill>
                <a:latin typeface="Georgia"/>
              </a:rPr>
              <a:t>The hard-fraction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931920"/>
            <a:ext cx="4800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A3A3A"/>
                </a:solidFill>
                <a:latin typeface="Georgia"/>
              </a:rPr>
              <a:t>The config had hard_fraction=0.25, but the pipeline ignored it and sent all 250 fakes to Qwen each round.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029200"/>
            <a:ext cx="4800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1A1A1A"/>
                </a:solidFill>
                <a:latin typeface="Menlo"/>
              </a:rPr>
              <a:t>Before:  Qwen rewrote everything.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1A1A1A"/>
                </a:solidFill>
                <a:latin typeface="Menlo"/>
              </a:rPr>
              <a:t>After:   sort by detector p(real) → keep top 25% hardest → Qwen rewrites those only.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1A1A1A"/>
                </a:solidFill>
                <a:latin typeface="Menlo"/>
              </a:rPr>
              <a:t>Verified live: round_1/fakes_hard_input.csv, fakes_hard_rewritten.csv on disk.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14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Six hours and twenty-three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On a single M3 Max — no cluster, no cloud. Here's where the time went.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17520"/>
            <a:ext cx="7744967" cy="5029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93607" y="3017520"/>
            <a:ext cx="2212848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06455" y="3017520"/>
            <a:ext cx="885139" cy="502920"/>
          </a:xfrm>
          <a:prstGeom prst="rect">
            <a:avLst/>
          </a:prstGeom>
          <a:solidFill>
            <a:srgbClr val="2C5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91594" y="3017520"/>
            <a:ext cx="221284" cy="502920"/>
          </a:xfrm>
          <a:prstGeom prst="rect">
            <a:avLst/>
          </a:prstGeom>
          <a:solidFill>
            <a:srgbClr val="8C8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22191"/>
            <a:ext cx="164592" cy="1645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Helvetica Neue"/>
              </a:rPr>
              <a:t>BioMistral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49039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70%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79391"/>
            <a:ext cx="164592" cy="16459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062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Helvetica Neue"/>
              </a:rPr>
              <a:t>Detector retrain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206239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36591"/>
            <a:ext cx="164592" cy="164592"/>
          </a:xfrm>
          <a:prstGeom prst="rect">
            <a:avLst/>
          </a:prstGeom>
          <a:solidFill>
            <a:srgbClr val="2C5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6634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Helvetica Neue"/>
              </a:rPr>
              <a:t>Qwen rewrites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63439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193791"/>
            <a:ext cx="164592" cy="164592"/>
          </a:xfrm>
          <a:prstGeom prst="rect">
            <a:avLst/>
          </a:prstGeom>
          <a:solidFill>
            <a:srgbClr val="8C8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1206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Helvetica Neue"/>
              </a:rPr>
              <a:t>Everything else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120639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74903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97757"/>
                </a:solidFill>
                <a:latin typeface="Helvetica Neue"/>
              </a:rPr>
              <a:t>DEVICE NOTES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2400" y="4069080"/>
            <a:ext cx="3840480" cy="0"/>
          </a:xfrm>
          <a:prstGeom prst="line">
            <a:avLst/>
          </a:prstGeom>
          <a:ln w="9525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0" y="4251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M3 Max 64 GB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6177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single-machine, lid closed via caffeinate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9377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bf16 on MPS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3035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no fp16 underflow, no cluster needed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623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3,984 samples produced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59893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A3A3A"/>
                </a:solidFill>
                <a:latin typeface="Helvetica Neue"/>
              </a:rPr>
              <a:t>across real, BioMistral, SeqGAN, RAID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BIOSHIELD  ·  CLASS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36576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Helvetica Neue"/>
              </a:rPr>
              <a:t>15 / 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85800"/>
            <a:ext cx="11064240" cy="0"/>
          </a:xfrm>
          <a:prstGeom prst="line">
            <a:avLst/>
          </a:prstGeom>
          <a:ln w="9525">
            <a:solidFill>
              <a:srgbClr val="C8BE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9144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1A1A1A"/>
                </a:solidFill>
                <a:latin typeface="Georgia"/>
              </a:rPr>
              <a:t>From class project to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C8378"/>
                </a:solidFill>
                <a:latin typeface="Helvetica Neue"/>
              </a:rPr>
              <a:t>The numbers we have are project-worthy. Publishable needs tighter confidence intervals and harder fakes.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3611880" cy="292608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3611880" cy="73152"/>
          </a:xfrm>
          <a:prstGeom prst="rect">
            <a:avLst/>
          </a:prstGeom>
          <a:solidFill>
            <a:srgbClr val="8C8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C8378"/>
                </a:solidFill>
                <a:latin typeface="Helvetica Neue"/>
              </a:rPr>
              <a:t>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A1A1A"/>
                </a:solidFill>
                <a:latin typeface="Georgia"/>
              </a:rPr>
              <a:t>Class presentation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995928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1,000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256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TEST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398264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n =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280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WALL-CLOCK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80060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6 h 23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303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95%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202936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±5.0% CI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834640"/>
            <a:ext cx="3611880" cy="292608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2834640"/>
            <a:ext cx="3611880" cy="731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306324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TIER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3832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A1A1A"/>
                </a:solidFill>
                <a:latin typeface="Georgia"/>
              </a:rPr>
              <a:t>Pilot — peer-review defensible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023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3995928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4,000 samples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4256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TEST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4398264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n = 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8280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WALL-CLOCK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480060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~24 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52303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95% 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0" y="5202936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±3.5% 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0" y="2834640"/>
            <a:ext cx="3611880" cy="2926080"/>
          </a:xfrm>
          <a:prstGeom prst="rect">
            <a:avLst/>
          </a:prstGeom>
          <a:solidFill>
            <a:srgbClr val="FAF7F2"/>
          </a:solidFill>
          <a:ln w="6350">
            <a:solidFill>
              <a:srgbClr val="D8C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0" y="2834640"/>
            <a:ext cx="3611880" cy="731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0" y="3063240"/>
            <a:ext cx="3063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97757"/>
                </a:solidFill>
                <a:latin typeface="Helvetica Neue"/>
              </a:rPr>
              <a:t>TIER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38328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A1A1A"/>
                </a:solidFill>
                <a:latin typeface="Georgia"/>
              </a:rPr>
              <a:t>Full — reviewer-proof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40233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3995928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20,000 samples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4256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TEST SET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398264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n = 1,000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8280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WALL-CLOCK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480060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~80 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523036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C8378"/>
                </a:solidFill>
                <a:latin typeface="Helvetica Neue"/>
              </a:rPr>
              <a:t>95% CI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5202936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±1.5% CI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3A3A3A"/>
                </a:solidFill>
                <a:latin typeface="Helvetica Neue"/>
              </a:rPr>
              <a:t>Pre-work  ·  batch BioMistral gen  ·  LoRA-hardened generator  ·  replace M4 dataset  ·  populate transfer_test  ·  human eval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45720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EEE6D8"/>
                </a:solidFill>
                <a:latin typeface="Helvetica Neue"/>
              </a:rPr>
              <a:t>CLASS PRESENTATION  ·  APRIL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7132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EEE6D8"/>
                </a:solidFill>
                <a:latin typeface="Helvetica Neue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EEE6D8"/>
                </a:solidFill>
                <a:latin typeface="Georgia"/>
              </a:rPr>
              <a:t>Three things to take with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1">
                <a:solidFill>
                  <a:srgbClr val="D97757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97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EEE6D8"/>
                </a:solidFill>
                <a:latin typeface="Georgia"/>
              </a:rPr>
              <a:t>Adversarial retraining works — when fakes are actually hard.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546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0B0B0"/>
                </a:solidFill>
                <a:latin typeface="Helvetica Neue"/>
              </a:rPr>
              <a:t>Condition B: 27% relative evasion reduction in three rounds.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1">
                <a:solidFill>
                  <a:srgbClr val="D97757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03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EEE6D8"/>
                </a:solidFill>
                <a:latin typeface="Georgia"/>
              </a:rPr>
              <a:t>Zero-shot fakes weren't hard enough to train against.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605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0B0B0"/>
                </a:solidFill>
                <a:latin typeface="Helvetica Neue"/>
              </a:rPr>
              <a:t>C and D converged on A's checkpoint. Harder generators = future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1">
                <a:solidFill>
                  <a:srgbClr val="D97757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709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1">
                <a:solidFill>
                  <a:srgbClr val="EEE6D8"/>
                </a:solidFill>
                <a:latin typeface="Georgia"/>
              </a:rPr>
              <a:t>Specialist &gt; universal for this problem.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166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B0B0B0"/>
                </a:solidFill>
                <a:latin typeface="Helvetica Neue"/>
              </a:rPr>
              <a:t>RAID 0.96 evasion means one detector can't guard all domains. Own that.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5943600"/>
            <a:ext cx="11064240" cy="0"/>
          </a:xfrm>
          <a:prstGeom prst="line">
            <a:avLst/>
          </a:prstGeom>
          <a:ln w="9525">
            <a:solidFill>
              <a:srgbClr val="454F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1264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D97757"/>
                </a:solidFill>
                <a:latin typeface="Georgia"/>
              </a:rPr>
              <a:t>Questions?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26364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EEE6D8"/>
                </a:solidFill>
                <a:latin typeface="Helvetica Neue"/>
              </a:rPr>
              <a:t>Venkatarayudu Alapati  ·  AP25122040029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C8378"/>
                </a:solidFill>
                <a:latin typeface="Menlo"/>
              </a:rPr>
              <a:t>github.com/Rayudualapati-25/BioShield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