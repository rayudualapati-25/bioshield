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45720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Helvetica Neue"/>
              </a:rPr>
              <a:t>CLASS PRESENTATION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 i="1">
                <a:solidFill>
                  <a:srgbClr val="1A1A1A"/>
                </a:solidFill>
                <a:latin typeface="Georgia"/>
              </a:rPr>
              <a:t>BioShield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3A3A3A"/>
                </a:solidFill>
                <a:latin typeface="Georgia"/>
              </a:rPr>
              <a:t>Teaching a machine to spot fake</a:t>
            </a:r>
          </a:p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3A3A3A"/>
                </a:solidFill>
                <a:latin typeface="Georgia"/>
              </a:rPr>
              <a:t>medical research — before it spreads.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03504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Helvetica Neue"/>
              </a:rPr>
              <a:t>Venkatarayudu Alapati  ·  AP25122040029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Helvetica Neue"/>
              </a:rPr>
              <a:t>M.Tech AI/ML  ·  NLP course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172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Menlo"/>
              </a:rPr>
              <a:t>github.com/Rayudualapati-25/BioShield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02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103120"/>
            <a:ext cx="9966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200" b="0" i="1">
                <a:solidFill>
                  <a:srgbClr val="1A1A1A"/>
                </a:solidFill>
                <a:latin typeface="Georgia"/>
              </a:rPr>
              <a:t>“One of these abstracts</a:t>
            </a:r>
          </a:p>
          <a:p>
            <a:pPr algn="ctr">
              <a:lnSpc>
                <a:spcPct val="130000"/>
              </a:lnSpc>
            </a:pPr>
            <a:r>
              <a:rPr sz="4200" b="0" i="1">
                <a:solidFill>
                  <a:srgbClr val="1A1A1A"/>
                </a:solidFill>
                <a:latin typeface="Georgia"/>
              </a:rPr>
              <a:t>was written by a person.</a:t>
            </a:r>
          </a:p>
          <a:p>
            <a:pPr algn="ctr">
              <a:lnSpc>
                <a:spcPct val="130000"/>
              </a:lnSpc>
            </a:pPr>
            <a:r>
              <a:rPr sz="4200" b="0" i="1">
                <a:solidFill>
                  <a:srgbClr val="1A1A1A"/>
                </a:solidFill>
                <a:latin typeface="Georgia"/>
              </a:rPr>
              <a:t>The other was written by a</a:t>
            </a:r>
          </a:p>
          <a:p>
            <a:pPr algn="ctr">
              <a:lnSpc>
                <a:spcPct val="130000"/>
              </a:lnSpc>
            </a:pPr>
            <a:r>
              <a:rPr sz="4200" b="0" i="1">
                <a:solidFill>
                  <a:srgbClr val="1A1A1A"/>
                </a:solidFill>
                <a:latin typeface="Georgia"/>
              </a:rPr>
              <a:t>7-billion-parameter model.”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D97757"/>
                </a:solidFill>
                <a:latin typeface="Helvetica Neue"/>
              </a:rPr>
              <a:t>You have thirty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03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1A1A1A"/>
                </a:solidFill>
                <a:latin typeface="Georgia"/>
              </a:rPr>
              <a:t>The quiz.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Which abstract was written by a human?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303520" cy="402336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D97757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6634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pheochromocytoma is a catecholamine-producing tumor. there are a very few reported cases of clinical pheochromocytoma. here, we report a 27-year-old woman para 1 live 1 with chief complaint of headache, confusion, nausea, and vomiting 2 days after cesarean section. she was anxious and had palpitation. on physical examination, fever, tachycardia, tachypnea, high blood pressure, and diaphoresis were observed…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303520" cy="402336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D97757"/>
                </a:solidFill>
                <a:latin typeface="Georg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108960"/>
            <a:ext cx="46634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Objective: To examine the efficacy of liraglutide and semaglutide in managing obesity. Methods: We conducted a systematic review of the PubMed database with the keywords “obesity”, “liraglutide”, “semaglutide”, and “clinical trial”. The results of these trials were combined using meta-analysis. Results: The results showed that liraglutide and semaglutide were effective in managing obesity…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C8378"/>
                </a:solidFill>
                <a:latin typeface="Helvetica Neue"/>
              </a:rPr>
              <a:t>(We'll come back to this in five slides.)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04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1A1A1A"/>
                </a:solidFill>
                <a:latin typeface="Georgia"/>
              </a:rPr>
              <a:t>Why this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C8378"/>
                </a:solidFill>
                <a:latin typeface="Helvetica Neue"/>
              </a:rPr>
              <a:t>Three ways fake medical writing causes real damage.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743200"/>
            <a:ext cx="3520440" cy="0"/>
          </a:xfrm>
          <a:prstGeom prst="line">
            <a:avLst/>
          </a:prstGeom>
          <a:ln w="1905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9260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Misinformation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520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A plausible-looking fake abstract on vaccine safety or drug efficacy can reach millions before anyone reads the methods section.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2743200"/>
            <a:ext cx="3520440" cy="0"/>
          </a:xfrm>
          <a:prstGeom prst="line">
            <a:avLst/>
          </a:prstGeom>
          <a:ln w="1905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29260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9184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Database rot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114800"/>
            <a:ext cx="3520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PubMed, CORD-19, and other corpora are ingested by downstream tools. Polluted sources mean polluted models, systematic reviews, and meta-analyses.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2743200"/>
            <a:ext cx="3520440" cy="0"/>
          </a:xfrm>
          <a:prstGeom prst="line">
            <a:avLst/>
          </a:prstGeom>
          <a:ln w="1905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38160" y="292608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Research fraud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114800"/>
            <a:ext cx="35204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Paper mills now generate synthetic manuscripts and reviews at scale. Journals need a screening layer that doesn't rely on a human's pattern-matching.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05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Three models in an adversarial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The idea: let a generator forge fakes, a detector catch them, and a coach make the fakes harder.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474720"/>
            <a:ext cx="1645920" cy="1645920"/>
          </a:xfrm>
          <a:prstGeom prst="ellipse">
            <a:avLst/>
          </a:prstGeom>
          <a:solidFill>
            <a:srgbClr val="FAF7F2"/>
          </a:solidFill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D97757"/>
                </a:solidFill>
                <a:latin typeface="Georgia"/>
              </a:rPr>
              <a:t>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BioMistral-7B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writes convincing fakes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3474720"/>
            <a:ext cx="1645920" cy="1645920"/>
          </a:xfrm>
          <a:prstGeom prst="ellipse">
            <a:avLst/>
          </a:prstGeom>
          <a:solidFill>
            <a:srgbClr val="FAF7F2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4069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1A1A1A"/>
                </a:solidFill>
                <a:latin typeface="Georgia"/>
              </a:rPr>
              <a:t>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2578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BiomedBERT-Large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real vs fake binary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3474720"/>
            <a:ext cx="1645920" cy="1645920"/>
          </a:xfrm>
          <a:prstGeom prst="ellipse">
            <a:avLst/>
          </a:prstGeom>
          <a:solidFill>
            <a:srgbClr val="FAF7F2"/>
          </a:solidFill>
          <a:ln w="28575">
            <a:solidFill>
              <a:srgbClr val="2C5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40690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2C5E4A"/>
                </a:solidFill>
                <a:latin typeface="Georgia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2578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Qwen2.5-7B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Helvetica Neue"/>
              </a:rPr>
              <a:t>rewrites near-misses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360" y="4297680.0"/>
            <a:ext cx="2240280" cy="0.0"/>
          </a:xfrm>
          <a:prstGeom prst="line">
            <a:avLst/>
          </a:prstGeom>
          <a:ln w="15875">
            <a:solidFill>
              <a:srgbClr val="8C83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4297680.0"/>
            <a:ext cx="2240280" cy="0.0"/>
          </a:xfrm>
          <a:prstGeom prst="line">
            <a:avLst/>
          </a:prstGeom>
          <a:ln w="15875">
            <a:solidFill>
              <a:srgbClr val="8C83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3A3A3A"/>
                </a:solidFill>
                <a:latin typeface="Georgia"/>
              </a:rPr>
              <a:t>Each round, the detector is retrained on harder fakes. That's the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06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1A1A1A"/>
                </a:solidFill>
                <a:latin typeface="Georgia"/>
              </a:rPr>
              <a:t>The 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Five models. Each picked for a specific job.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46888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BioMistral-7B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The forger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700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Medical-tuned Mistral. Zero-shot generation of fake abstracts.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182112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3192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BiomedBERT-Large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6499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The skeptic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340M-param encoder pretrained on biomedical text. Binary classifier.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895344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0325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Qwen2.5-7B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782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The coach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9651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Rewrites the fakes that almost fooled the detector. Picks sharper wording.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608576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7457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SeqGAN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79145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The scrappy challenger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097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Small GAN. Used in Condition B to produce stylistically-different fakes.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321808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54589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Llama-3.2-3B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The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2297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Held back for cross-family transfer-attack evaluation.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03504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07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1A1A1A"/>
                </a:solidFill>
                <a:latin typeface="Georgia"/>
              </a:rPr>
              <a:t>The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0" b="0" i="1">
                <a:solidFill>
                  <a:srgbClr val="1A1A1A"/>
                </a:solidFill>
                <a:latin typeface="Georgia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3A3A3A"/>
                </a:solidFill>
                <a:latin typeface="Georgia"/>
              </a:rPr>
              <a:t>biomedical abstracts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HOW IT BREAKS DOWN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606040"/>
            <a:ext cx="4389120" cy="0"/>
          </a:xfrm>
          <a:prstGeom prst="line">
            <a:avLst/>
          </a:prstGeom>
          <a:ln w="9525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0" y="2834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1A1A1A"/>
                </a:solidFill>
                <a:latin typeface="Georgia"/>
              </a:rPr>
              <a:t>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186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real PubMed abstracts, streamed from ccdv/pubmed-summarization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611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1A1A1A"/>
                </a:solidFill>
                <a:latin typeface="Georgia"/>
              </a:rPr>
              <a:t>1,500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99592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fake abstracts, generated zero-shot by BioMistral-7B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389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1A1A1A"/>
                </a:solidFill>
                <a:latin typeface="Georgia"/>
              </a:rPr>
              <a:t>80 / 10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77316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train / val / test split, stratified by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1663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1A1A1A"/>
                </a:solidFill>
                <a:latin typeface="Georgia"/>
              </a:rPr>
              <a:t>n =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5504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held-out test set, ±2.9% CI on 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08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Four experiments, one ablation.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Changing one variable at a time tells us which piece actually earns its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394960" cy="210312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1">
                <a:solidFill>
                  <a:srgbClr val="D97757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97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Menlo"/>
              </a:rPr>
              <a:t>static_baseline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632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1A1A1A"/>
                </a:solidFill>
                <a:latin typeface="Georgia"/>
              </a:rPr>
              <a:t>Train once. Never retrain.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5760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Georgia"/>
              </a:rPr>
              <a:t>The reference point — how good is a detector without any adversarial pressure?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23160"/>
            <a:ext cx="5394960" cy="210312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1">
                <a:solidFill>
                  <a:srgbClr val="D97757"/>
                </a:solidFill>
                <a:latin typeface="Georgia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6974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Menlo"/>
              </a:rPr>
              <a:t>seqgan_only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632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1A1A1A"/>
                </a:solidFill>
                <a:latin typeface="Georgia"/>
              </a:rPr>
              <a:t>SeqGAN + retrain each 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65760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Georgia"/>
              </a:rPr>
              <a:t>Pure adversarial dynamic. No coach, no fancy rewrites — just new fakes each round.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5394960" cy="210312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1">
                <a:solidFill>
                  <a:srgbClr val="D97757"/>
                </a:solidFill>
                <a:latin typeface="Georgi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749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Menlo"/>
              </a:rPr>
              <a:t>agent_only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4406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1A1A1A"/>
                </a:solidFill>
                <a:latin typeface="Georgia"/>
              </a:rPr>
              <a:t>Qwen rewrites, no retrain.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60350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Georgia"/>
              </a:rPr>
              <a:t>Does a smarter attacker alone hurt a static detector? Rewrite the hard fakes and measure.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00600"/>
            <a:ext cx="5394960" cy="210312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93776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0" i="1">
                <a:solidFill>
                  <a:srgbClr val="D97757"/>
                </a:solidFill>
                <a:latin typeface="Georgia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0749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Menlo"/>
              </a:rPr>
              <a:t>full_pipeline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54406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1A1A1A"/>
                </a:solidFill>
                <a:latin typeface="Georgia"/>
              </a:rPr>
              <a:t>SeqGAN + Qwen + retrain.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0350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A3A3A"/>
                </a:solidFill>
                <a:latin typeface="Georgia"/>
              </a:rPr>
              <a:t>Everything on. The setup that should, in principle, produce the hardest detector.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09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RESULT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The baseline detector is already strong.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8229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0" i="1">
                <a:solidFill>
                  <a:srgbClr val="1A1A1A"/>
                </a:solidFill>
                <a:latin typeface="Georgia"/>
              </a:rPr>
              <a:t>0.9997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A3A3A"/>
                </a:solidFill>
                <a:latin typeface="Helvetica Neue"/>
              </a:rPr>
              <a:t>Test-set AUC  ·  Condition A  ·  n =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ALSO WORTH NOTING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0" y="2788920"/>
            <a:ext cx="3108960" cy="0"/>
          </a:xfrm>
          <a:prstGeom prst="line">
            <a:avLst/>
          </a:prstGeom>
          <a:ln w="9525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9536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Helvetica Neue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926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0.9797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657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Helvetica Neue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6118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0.98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43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Helvetica Neue"/>
              </a:rPr>
              <a:t>Train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4297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2,400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292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Helvetica Neue"/>
              </a:rPr>
              <a:t>Epochs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983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10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RESULT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1">
                <a:solidFill>
                  <a:srgbClr val="1A1A1A"/>
                </a:solidFill>
                <a:latin typeface="Georgia"/>
              </a:rPr>
              <a:t>The story is generator family — not rounds.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Evasion rate, final round, by generator family. Same detector, same test set, 100× spread.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0" b="0" i="1">
                <a:solidFill>
                  <a:srgbClr val="D97757"/>
                </a:solidFill>
                <a:latin typeface="Georg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Helvetica Neue"/>
              </a:rPr>
              <a:t>SEQGAN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Helvetica Neue"/>
              </a:rPr>
              <a:t>Condition B final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0" b="0" i="1">
                <a:solidFill>
                  <a:srgbClr val="2C5E4A"/>
                </a:solidFill>
                <a:latin typeface="Georgia"/>
              </a:rPr>
              <a:t>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Helvetica Neue"/>
              </a:rPr>
              <a:t>BIOMISTRAL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Helvetica Neue"/>
              </a:rPr>
              <a:t>Conditions C + D final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43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0" b="0" i="1">
                <a:solidFill>
                  <a:srgbClr val="8C8378"/>
                </a:solidFill>
                <a:latin typeface="Georgia"/>
              </a:rP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Helvetica Neue"/>
              </a:rPr>
              <a:t>RAID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8C8378"/>
                </a:solidFill>
                <a:latin typeface="Helvetica Neue"/>
              </a:rPr>
              <a:t>cross-domain · mixed LLMs · n = 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EF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7667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Same detector, three families. 99% vs 0.7% evasion — the family matters more than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any round of retraining. A published detector has to disclose which generator family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it was trained against. That's the real headline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11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RESULT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And here's what didn't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3A3A3A"/>
                </a:solidFill>
                <a:latin typeface="Georgia"/>
              </a:rPr>
              <a:t>Conditions C and D produced byte-identical final metrics.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10896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Condition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46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Menlo"/>
              </a:rPr>
              <a:t>agent_only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18688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enlo"/>
              </a:rPr>
              <a:t>AUC 0.9993  ·  F1 0.9797  ·  Evasion 0.007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74904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Condition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86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C8378"/>
                </a:solidFill>
                <a:latin typeface="Menlo"/>
              </a:rPr>
              <a:t>full_pipeline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58768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enlo"/>
              </a:rPr>
              <a:t>AUC 0.9993  ·  F1 0.9797  ·  Evasion 0.007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38912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84632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A3A3A"/>
                </a:solidFill>
                <a:latin typeface="Georgia"/>
              </a:rPr>
              <a:t>Both conditions picked Condition A's baseline as their best-validation checkpoint.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A3A3A"/>
                </a:solidFill>
                <a:latin typeface="Georgia"/>
              </a:rPr>
              <a:t>The cause, once you look: BioMistral's zero-shot fakes are too easy — the detector catches nearly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A3A3A"/>
                </a:solidFill>
                <a:latin typeface="Georgia"/>
              </a:rPr>
              <a:t>all of them on the first pass. With nothing slipping through, there's no gradient for the agent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A3A3A"/>
                </a:solidFill>
                <a:latin typeface="Georgia"/>
              </a:rPr>
              <a:t>or the retrain loop to improve against.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D97757"/>
                </a:solidFill>
                <a:latin typeface="Georgia"/>
              </a:rPr>
              <a:t>Lesson: adversarial setups need adversarial-quality fakes.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12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RESULT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What we can't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858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0" i="1">
                <a:solidFill>
                  <a:srgbClr val="D97757"/>
                </a:solidFill>
                <a:latin typeface="Georgia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3A3A3A"/>
                </a:solidFill>
                <a:latin typeface="Georgia"/>
              </a:rPr>
              <a:t>of cross-domain fakes slipped past our detector on the RAID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688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READ THIS HONESTLY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2788920"/>
            <a:ext cx="3931920" cy="0"/>
          </a:xfrm>
          <a:prstGeom prst="line">
            <a:avLst/>
          </a:prstGeom>
          <a:ln w="9525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0" y="2926080"/>
            <a:ext cx="39319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RAID contains general-web AI text from ChatGPT, GPT-4, Claude, Llama, and others — models our detector never trained against.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BioShield is a biomedical specialist, not a universal AI-text detector. That's a positioning statement, not a weakness.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Cross-domain generalization is its own research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13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Two bugs we found in our own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Both caught during the smoke run. Both verified fixed at 3,000-sample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440680" cy="338328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The seeding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set_seed(42) was called once at process start — so every adversarial round produced byte-identical fakes and byte-identical rewrites.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1A"/>
                </a:solidFill>
                <a:latin typeface="Menlo"/>
              </a:rPr>
              <a:t>Before:  rounds 1, 2, 3 had literally the same output.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1A"/>
                </a:solidFill>
                <a:latin typeface="Menlo"/>
              </a:rPr>
              <a:t>After:   set_seed(base + round_idx) inside the loop — rounds now vary as intended.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5440680" cy="338328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971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A1A1A"/>
                </a:solidFill>
                <a:latin typeface="Georgia"/>
              </a:rPr>
              <a:t>The hard-fraction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319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3A3A3A"/>
                </a:solidFill>
                <a:latin typeface="Georgia"/>
              </a:rPr>
              <a:t>The config had hard_fraction=0.25, but the pipeline ignored it and sent all 250 fakes to Qwen each 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29200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1A"/>
                </a:solidFill>
                <a:latin typeface="Menlo"/>
              </a:rPr>
              <a:t>Before:  Qwen rewrote everything.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1A"/>
                </a:solidFill>
                <a:latin typeface="Menlo"/>
              </a:rPr>
              <a:t>After:   sort by detector p(real) → keep top 25% hardest → Qwen rewrites those only.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A1A1A"/>
                </a:solidFill>
                <a:latin typeface="Menlo"/>
              </a:rPr>
              <a:t>Verified live: round_1/fakes_hard_input.csv, fakes_hard_rewritten.csv on disk.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14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Ten hours and one minute.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On a single M3 Max — no cluster, no cloud. Here's where the time went.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7744967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93607" y="3017520"/>
            <a:ext cx="2212848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06455" y="3017520"/>
            <a:ext cx="885139" cy="502920"/>
          </a:xfrm>
          <a:prstGeom prst="rect">
            <a:avLst/>
          </a:prstGeom>
          <a:solidFill>
            <a:srgbClr val="2C5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91594" y="3017520"/>
            <a:ext cx="221284" cy="502920"/>
          </a:xfrm>
          <a:prstGeom prst="rect">
            <a:avLst/>
          </a:prstGeom>
          <a:solidFill>
            <a:srgbClr val="8C8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22191"/>
            <a:ext cx="164592" cy="16459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BioMistral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70%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79391"/>
            <a:ext cx="164592" cy="1645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Detector retrain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39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20%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36591"/>
            <a:ext cx="164592" cy="164592"/>
          </a:xfrm>
          <a:prstGeom prst="rect">
            <a:avLst/>
          </a:prstGeom>
          <a:solidFill>
            <a:srgbClr val="2C5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634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Qwen rewrites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39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93791"/>
            <a:ext cx="164592" cy="164592"/>
          </a:xfrm>
          <a:prstGeom prst="rect">
            <a:avLst/>
          </a:prstGeom>
          <a:solidFill>
            <a:srgbClr val="8C8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20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Helvetica Neue"/>
              </a:rPr>
              <a:t>Everything else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39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490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57"/>
                </a:solidFill>
                <a:latin typeface="Helvetica Neue"/>
              </a:rPr>
              <a:t>DEVICE NOTES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0" y="4069080"/>
            <a:ext cx="3840480" cy="0"/>
          </a:xfrm>
          <a:prstGeom prst="line">
            <a:avLst/>
          </a:prstGeom>
          <a:ln w="9525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0" y="4251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M3 Max 64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6177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single-machine, lid closed via caffeinate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937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bf16 on MPS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3035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no fp16 underflow, no cluster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623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5,622 samples produced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989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3A3A"/>
                </a:solidFill>
                <a:latin typeface="Helvetica Neue"/>
              </a:rPr>
              <a:t>across real, BioMistral, SeqGAN, + 200 RAID eval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BIOSHIELD  ·  CLASS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365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Helvetica Neue"/>
              </a:rPr>
              <a:t>15 / 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85800"/>
            <a:ext cx="11064240" cy="0"/>
          </a:xfrm>
          <a:prstGeom prst="line">
            <a:avLst/>
          </a:prstGeom>
          <a:ln w="9525">
            <a:solidFill>
              <a:srgbClr val="C8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1A1A1A"/>
                </a:solidFill>
                <a:latin typeface="Georgia"/>
              </a:rPr>
              <a:t>From class project to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C8378"/>
                </a:solidFill>
                <a:latin typeface="Helvetica Neue"/>
              </a:rPr>
              <a:t>The numbers we have are project-worthy. Publishable needs tighter confidence intervals and harder fakes.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3611880" cy="292608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3611880" cy="73152"/>
          </a:xfrm>
          <a:prstGeom prst="rect">
            <a:avLst/>
          </a:prstGeom>
          <a:solidFill>
            <a:srgbClr val="8C8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C8378"/>
                </a:solidFill>
                <a:latin typeface="Helvetica Neue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A1A1A"/>
                </a:solidFill>
                <a:latin typeface="Georgia"/>
              </a:rPr>
              <a:t>Class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99592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3,000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256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TEST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398264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n =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WALL-CLOCK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006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10 h 01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30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95%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202936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±2.9% 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834640"/>
            <a:ext cx="3611880" cy="292608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834640"/>
            <a:ext cx="361188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0632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Helvetica Neue"/>
              </a:rPr>
              <a:t>TIER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383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A1A1A"/>
                </a:solidFill>
                <a:latin typeface="Georgia"/>
              </a:rPr>
              <a:t>Pilot — peer-review defensible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23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99592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4,000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256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TEST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398264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n = 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28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WALL-CLOCK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8006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~16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5230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95%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202936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±2.5% 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834640"/>
            <a:ext cx="3611880" cy="2926080"/>
          </a:xfrm>
          <a:prstGeom prst="rect">
            <a:avLst/>
          </a:prstGeom>
          <a:solidFill>
            <a:srgbClr val="FAF7F2"/>
          </a:solidFill>
          <a:ln w="6350">
            <a:solidFill>
              <a:srgbClr val="D8C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834640"/>
            <a:ext cx="361188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06324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57"/>
                </a:solidFill>
                <a:latin typeface="Helvetica Neue"/>
              </a:rPr>
              <a:t>TIER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38328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A1A1A"/>
                </a:solidFill>
                <a:latin typeface="Georgia"/>
              </a:rPr>
              <a:t>Full — reviewer-proof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023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995928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20,000 samples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4256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TEST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398264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n = 2,000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828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WALL-CLOCK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480060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~65 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230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C8378"/>
                </a:solidFill>
                <a:latin typeface="Helvetica Neue"/>
              </a:rPr>
              <a:t>95%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202936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±1.1% 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3A3A3A"/>
                </a:solidFill>
                <a:latin typeface="Helvetica Neue"/>
              </a:rPr>
              <a:t>Pre-work  ·  batch BioMistral gen  ·  LoRA-hardened generator  ·  replace M4 dataset  ·  populate transfer_test  ·  human eval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45720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EE6D8"/>
                </a:solidFill>
                <a:latin typeface="Helvetica Neue"/>
              </a:rPr>
              <a:t>CLASS PRESENTATION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71323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EE6D8"/>
                </a:solidFill>
                <a:latin typeface="Helvetica Neue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1">
                <a:solidFill>
                  <a:srgbClr val="EEE6D8"/>
                </a:solidFill>
                <a:latin typeface="Georgia"/>
              </a:rPr>
              <a:t>Three things to take with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D97757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EEE6D8"/>
                </a:solidFill>
                <a:latin typeface="Georgia"/>
              </a:rPr>
              <a:t>Generator family dominates — 100× spread across families.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546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0B0B0"/>
                </a:solidFill>
                <a:latin typeface="Helvetica Neue"/>
              </a:rPr>
              <a:t>SeqGAN 99% evasion · BioMistral 0.7% · RAID 98% — same detector, same test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D97757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EEE6D8"/>
                </a:solidFill>
                <a:latin typeface="Georgia"/>
              </a:rPr>
              <a:t>Adversarial retraining did not help at 3k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0B0B0"/>
                </a:solidFill>
                <a:latin typeface="Helvetica Neue"/>
              </a:rPr>
              <a:t>Condition B stayed flat at ~99% evasion. C and D converged onto A's checkpoint.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1">
                <a:solidFill>
                  <a:srgbClr val="D97757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EEE6D8"/>
                </a:solidFill>
                <a:latin typeface="Georgia"/>
              </a:rPr>
              <a:t>Specialist &gt; universal for this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663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B0B0B0"/>
                </a:solidFill>
                <a:latin typeface="Helvetica Neue"/>
              </a:rPr>
              <a:t>RAID 98% evasion means one detector can't guard all domains. Own that.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943600"/>
            <a:ext cx="11064240" cy="0"/>
          </a:xfrm>
          <a:prstGeom prst="line">
            <a:avLst/>
          </a:prstGeom>
          <a:ln w="9525">
            <a:solidFill>
              <a:srgbClr val="454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1264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D97757"/>
                </a:solidFill>
                <a:latin typeface="Georgia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2636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EE6D8"/>
                </a:solidFill>
                <a:latin typeface="Helvetica Neue"/>
              </a:rPr>
              <a:t>Venkatarayudu Alapati  ·  AP25122040029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5379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C8378"/>
                </a:solidFill>
                <a:latin typeface="Menlo"/>
              </a:rPr>
              <a:t>github.com/Rayudualapati-25/BioShield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